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ource Sans Pro Bold" charset="1" panose="020B0703030403020204"/>
      <p:regular r:id="rId15"/>
    </p:embeddedFont>
    <p:embeddedFont>
      <p:font typeface="Source Sans Pro" charset="1" panose="020B0503030403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A0C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32480" y="1133475"/>
            <a:ext cx="12823041" cy="697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 b="true">
                <a:solidFill>
                  <a:srgbClr val="2F303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Segunda entrega del proyecto </a:t>
            </a:r>
          </a:p>
          <a:p>
            <a:pPr algn="ctr">
              <a:lnSpc>
                <a:spcPts val="10999"/>
              </a:lnSpc>
            </a:pPr>
          </a:p>
          <a:p>
            <a:pPr algn="ctr">
              <a:lnSpc>
                <a:spcPts val="10999"/>
              </a:lnSpc>
            </a:pPr>
            <a:r>
              <a:rPr lang="en-US" sz="9999" b="true">
                <a:solidFill>
                  <a:srgbClr val="2F303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-SPOT-</a:t>
            </a:r>
          </a:p>
          <a:p>
            <a:pPr algn="l">
              <a:lnSpc>
                <a:spcPts val="1099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2606" y="1104900"/>
            <a:ext cx="13422789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999">
                <a:solidFill>
                  <a:srgbClr val="45687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Cambio</a:t>
            </a:r>
            <a:r>
              <a:rPr lang="en-US" b="true" sz="6999">
                <a:solidFill>
                  <a:srgbClr val="45687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 y avance general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32606" y="2787817"/>
            <a:ext cx="13422789" cy="686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Durante esta etapa se organizaron y actualizaron los elementos principales del proyecto.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 integraron con mayor claridad las funcionalidades de los tres perfiles de usuario: ciudadano, locatario y brigadista.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También se ajustaron los escenarios de uso y se relacionaron con las actividades calendarizadas para mostrar el progreso del equipo hasta el momento.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31253" y="1308740"/>
            <a:ext cx="12225495" cy="188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70"/>
              </a:lnSpc>
            </a:pPr>
            <a:r>
              <a:rPr lang="en-US" b="true" sz="6700">
                <a:solidFill>
                  <a:srgbClr val="45687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Esp</a:t>
            </a:r>
            <a:r>
              <a:rPr lang="en-US" b="true" sz="6700">
                <a:solidFill>
                  <a:srgbClr val="45687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ecificación de Requisitos de Software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32606" y="3179930"/>
            <a:ext cx="13422789" cy="608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</a:t>
            </a:r>
            <a:r>
              <a:rPr lang="en-US" sz="35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 de los avances principales fue la elaboración del documento ERS de Spot.</a:t>
            </a:r>
          </a:p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 este documento se formalizaron los requerimientos del sistema, separando los aspectos funcionales y no funcionales.</a:t>
            </a:r>
          </a:p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También se incluyeron elementos propios del diseño centrado en el usuario, como necesidades de </a:t>
            </a:r>
            <a:r>
              <a:rPr lang="en-US" b="true" sz="3500">
                <a:solidFill>
                  <a:srgbClr val="2F303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visibilidad</a:t>
            </a:r>
            <a:r>
              <a:rPr lang="en-US" sz="35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b="true" sz="3500">
                <a:solidFill>
                  <a:srgbClr val="2F303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facilidad de uso</a:t>
            </a:r>
            <a:r>
              <a:rPr lang="en-US" sz="35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GPS y </a:t>
            </a:r>
            <a:r>
              <a:rPr lang="en-US" b="true" sz="3500">
                <a:solidFill>
                  <a:srgbClr val="2F303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geolocalización</a:t>
            </a:r>
            <a:r>
              <a:rPr lang="en-US" sz="35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A0C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0322" y="872184"/>
            <a:ext cx="15980419" cy="195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2F303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Reque</a:t>
            </a:r>
            <a:r>
              <a:rPr lang="en-US" b="true" sz="6999">
                <a:solidFill>
                  <a:srgbClr val="2F303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rimientos funcionales y no funcionales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5756" y="3105150"/>
            <a:ext cx="16704985" cy="69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 la segunda entrega se definieron requ</a:t>
            </a: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erimientos funcionales relacionados con: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Registro y autenticación.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Selección de rol.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Captura de evidencia inicial.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Geolocalización automática.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Envío y consulta de reportes.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Creación de solicitudes de limpieza.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Asignación de oferta económica.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Aceptación y cierre de tareas por brigadistas.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Validación de evidencias antes/después.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F30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También se establecieron requerimientos no funcionales relacionados con usabilidad, rendimiento, disponibilidad, contraste visual, tamaño de fuente y tiempo de respuesta del sistema.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3129" y="817152"/>
            <a:ext cx="14681742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00"/>
              </a:lnSpc>
            </a:pPr>
            <a:r>
              <a:rPr lang="en-US" b="true" sz="9000">
                <a:solidFill>
                  <a:srgbClr val="45687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</a:t>
            </a:r>
            <a:r>
              <a:rPr lang="en-US" b="true" sz="9000">
                <a:solidFill>
                  <a:srgbClr val="45687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ONSTRUCCIÓN DE PROTOTIPOS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3968" y="3531696"/>
            <a:ext cx="16415332" cy="582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2"/>
              </a:lnSpc>
            </a:pPr>
            <a:r>
              <a:rPr lang="en-US" sz="3673">
                <a:solidFill>
                  <a:srgbClr val="45687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 esta entrega se desarrollaron prototipos de las pantallas principales de la aplicación.</a:t>
            </a:r>
          </a:p>
          <a:p>
            <a:pPr algn="l" marL="0" indent="0" lvl="0">
              <a:lnSpc>
                <a:spcPts val="5142"/>
              </a:lnSpc>
              <a:spcBef>
                <a:spcPct val="0"/>
              </a:spcBef>
            </a:pPr>
            <a:r>
              <a:rPr lang="en-US" sz="3673">
                <a:solidFill>
                  <a:srgbClr val="45687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prototipos permitieron representar visualmente</a:t>
            </a:r>
            <a:r>
              <a:rPr lang="en-US" sz="3673">
                <a:solidFill>
                  <a:srgbClr val="45687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los flujos de reporte ciudadano, solicitud de servicio por parte del locatario y aceptación de tareas por parte del brigadista.</a:t>
            </a:r>
          </a:p>
          <a:p>
            <a:pPr algn="l" marL="0" indent="0" lvl="0">
              <a:lnSpc>
                <a:spcPts val="5142"/>
              </a:lnSpc>
              <a:spcBef>
                <a:spcPct val="0"/>
              </a:spcBef>
            </a:pPr>
            <a:r>
              <a:rPr lang="en-US" sz="3673">
                <a:solidFill>
                  <a:srgbClr val="45687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Gracias a estos prototipos, el equipo pudo identificar ajustes en la interfaz, como la necesidad de botones visibles, pantallas más directas y confirmaciones claras para el usuario.</a:t>
            </a:r>
          </a:p>
          <a:p>
            <a:pPr algn="l" marL="0" indent="0" lvl="0">
              <a:lnSpc>
                <a:spcPts val="51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0C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144000" y="4932362"/>
            <a:ext cx="7623446" cy="9525"/>
          </a:xfrm>
          <a:prstGeom prst="rect">
            <a:avLst/>
          </a:prstGeom>
          <a:solidFill>
            <a:srgbClr val="FAFAFA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659559" y="2210995"/>
            <a:ext cx="3926991" cy="6795018"/>
          </a:xfrm>
          <a:custGeom>
            <a:avLst/>
            <a:gdLst/>
            <a:ahLst/>
            <a:cxnLst/>
            <a:rect r="r" b="b" t="t" l="l"/>
            <a:pathLst>
              <a:path h="6795018" w="3926991">
                <a:moveTo>
                  <a:pt x="0" y="0"/>
                </a:moveTo>
                <a:lnTo>
                  <a:pt x="3926990" y="0"/>
                </a:lnTo>
                <a:lnTo>
                  <a:pt x="3926990" y="6795017"/>
                </a:lnTo>
                <a:lnTo>
                  <a:pt x="0" y="6795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05649" y="2210995"/>
            <a:ext cx="3881297" cy="6795018"/>
          </a:xfrm>
          <a:custGeom>
            <a:avLst/>
            <a:gdLst/>
            <a:ahLst/>
            <a:cxnLst/>
            <a:rect r="r" b="b" t="t" l="l"/>
            <a:pathLst>
              <a:path h="6795018" w="3881297">
                <a:moveTo>
                  <a:pt x="0" y="0"/>
                </a:moveTo>
                <a:lnTo>
                  <a:pt x="3881297" y="0"/>
                </a:lnTo>
                <a:lnTo>
                  <a:pt x="3881297" y="6795017"/>
                </a:lnTo>
                <a:lnTo>
                  <a:pt x="0" y="6795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01885" y="2210995"/>
            <a:ext cx="3824223" cy="6795018"/>
          </a:xfrm>
          <a:custGeom>
            <a:avLst/>
            <a:gdLst/>
            <a:ahLst/>
            <a:cxnLst/>
            <a:rect r="r" b="b" t="t" l="l"/>
            <a:pathLst>
              <a:path h="6795018" w="3824223">
                <a:moveTo>
                  <a:pt x="0" y="0"/>
                </a:moveTo>
                <a:lnTo>
                  <a:pt x="3824223" y="0"/>
                </a:lnTo>
                <a:lnTo>
                  <a:pt x="3824223" y="6795017"/>
                </a:lnTo>
                <a:lnTo>
                  <a:pt x="0" y="6795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09855" y="2210995"/>
            <a:ext cx="3906315" cy="6795018"/>
          </a:xfrm>
          <a:custGeom>
            <a:avLst/>
            <a:gdLst/>
            <a:ahLst/>
            <a:cxnLst/>
            <a:rect r="r" b="b" t="t" l="l"/>
            <a:pathLst>
              <a:path h="6795018" w="3906315">
                <a:moveTo>
                  <a:pt x="0" y="0"/>
                </a:moveTo>
                <a:lnTo>
                  <a:pt x="3906315" y="0"/>
                </a:lnTo>
                <a:lnTo>
                  <a:pt x="3906315" y="6795017"/>
                </a:lnTo>
                <a:lnTo>
                  <a:pt x="0" y="67950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01108" y="574675"/>
            <a:ext cx="4696279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BRIGADISTA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3721" y="2136268"/>
            <a:ext cx="3945471" cy="6980449"/>
          </a:xfrm>
          <a:custGeom>
            <a:avLst/>
            <a:gdLst/>
            <a:ahLst/>
            <a:cxnLst/>
            <a:rect r="r" b="b" t="t" l="l"/>
            <a:pathLst>
              <a:path h="6980449" w="3945471">
                <a:moveTo>
                  <a:pt x="0" y="0"/>
                </a:moveTo>
                <a:lnTo>
                  <a:pt x="3945471" y="0"/>
                </a:lnTo>
                <a:lnTo>
                  <a:pt x="3945471" y="6980449"/>
                </a:lnTo>
                <a:lnTo>
                  <a:pt x="0" y="6980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27097" y="2135235"/>
            <a:ext cx="4024688" cy="6978381"/>
          </a:xfrm>
          <a:custGeom>
            <a:avLst/>
            <a:gdLst/>
            <a:ahLst/>
            <a:cxnLst/>
            <a:rect r="r" b="b" t="t" l="l"/>
            <a:pathLst>
              <a:path h="6978381" w="4024688">
                <a:moveTo>
                  <a:pt x="0" y="0"/>
                </a:moveTo>
                <a:lnTo>
                  <a:pt x="4024688" y="0"/>
                </a:lnTo>
                <a:lnTo>
                  <a:pt x="4024688" y="6978381"/>
                </a:lnTo>
                <a:lnTo>
                  <a:pt x="0" y="6978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69690" y="2135235"/>
            <a:ext cx="3973384" cy="6981482"/>
          </a:xfrm>
          <a:custGeom>
            <a:avLst/>
            <a:gdLst/>
            <a:ahLst/>
            <a:cxnLst/>
            <a:rect r="r" b="b" t="t" l="l"/>
            <a:pathLst>
              <a:path h="6981482" w="3973384">
                <a:moveTo>
                  <a:pt x="0" y="0"/>
                </a:moveTo>
                <a:lnTo>
                  <a:pt x="3973384" y="0"/>
                </a:lnTo>
                <a:lnTo>
                  <a:pt x="3973384" y="6981482"/>
                </a:lnTo>
                <a:lnTo>
                  <a:pt x="0" y="698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86880" y="574675"/>
            <a:ext cx="4705123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CIUDADANO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015" y="2494628"/>
            <a:ext cx="17689970" cy="7341338"/>
          </a:xfrm>
          <a:custGeom>
            <a:avLst/>
            <a:gdLst/>
            <a:ahLst/>
            <a:cxnLst/>
            <a:rect r="r" b="b" t="t" l="l"/>
            <a:pathLst>
              <a:path h="7341338" w="17689970">
                <a:moveTo>
                  <a:pt x="0" y="0"/>
                </a:moveTo>
                <a:lnTo>
                  <a:pt x="17689970" y="0"/>
                </a:lnTo>
                <a:lnTo>
                  <a:pt x="17689970" y="7341337"/>
                </a:lnTo>
                <a:lnTo>
                  <a:pt x="0" y="7341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87607" y="574675"/>
            <a:ext cx="10303669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INTERFACES DE USUARIOS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A0C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144000" y="4932362"/>
            <a:ext cx="7623446" cy="9525"/>
          </a:xfrm>
          <a:prstGeom prst="rect">
            <a:avLst/>
          </a:prstGeom>
          <a:solidFill>
            <a:srgbClr val="FAFAFA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2321038" y="928818"/>
            <a:ext cx="13645924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DISEÑO CENTRADO EN EL USUARIO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51292" y="3274670"/>
            <a:ext cx="11499056" cy="443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Se priorizó:</a:t>
            </a:r>
          </a:p>
          <a:p>
            <a:pPr algn="l" marL="863599" indent="-431800" lvl="1">
              <a:lnSpc>
                <a:spcPts val="43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Navegación sencilla.</a:t>
            </a:r>
          </a:p>
          <a:p>
            <a:pPr algn="l" marL="863599" indent="-431800" lvl="1">
              <a:lnSpc>
                <a:spcPts val="43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Botones visibles.</a:t>
            </a:r>
          </a:p>
          <a:p>
            <a:pPr algn="l" marL="863599" indent="-431800" lvl="1">
              <a:lnSpc>
                <a:spcPts val="43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Uso de mapas y marcadores claros.</a:t>
            </a:r>
          </a:p>
          <a:p>
            <a:pPr algn="l" marL="863599" indent="-431800" lvl="1">
              <a:lnSpc>
                <a:spcPts val="43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Confirmaciones después de acciones importantes.</a:t>
            </a:r>
          </a:p>
          <a:p>
            <a:pPr algn="l" marL="863599" indent="-431800" lvl="1">
              <a:lnSpc>
                <a:spcPts val="43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Uso de fotografía y ubicación automática.</a:t>
            </a:r>
          </a:p>
          <a:p>
            <a:pPr algn="l" marL="863599" indent="-431800" lvl="1">
              <a:lnSpc>
                <a:spcPts val="43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Reducción de pasos innecesarios.</a:t>
            </a:r>
          </a:p>
          <a:p>
            <a:pPr algn="l" marL="863599" indent="-431800" lvl="1">
              <a:lnSpc>
                <a:spcPts val="43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Alto contraste y textos legibles.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DAHJASr06bM</dc:identifier>
  <dcterms:modified xsi:type="dcterms:W3CDTF">2011-08-01T06:04:30Z</dcterms:modified>
  <cp:revision>1</cp:revision>
  <dc:title>Segunda entrega del proyecto</dc:title>
</cp:coreProperties>
</file>